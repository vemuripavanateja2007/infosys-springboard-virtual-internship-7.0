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Sans" panose="020B0604020202020204" charset="0"/>
      <p:regular r:id="rId17"/>
    </p:embeddedFont>
    <p:embeddedFont>
      <p:font typeface="Funnel Sans Bold" panose="020B0604020202020204" charset="0"/>
      <p:regular r:id="rId18"/>
    </p:embeddedFont>
    <p:embeddedFont>
      <p:font typeface="Mona Sans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14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535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ForecastinQ: Intelligent Sales Forecasting &amp; Inventory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40101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Infosys Springboard Virtual Internship 7.0 – Milestone-2 Review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6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 &amp; Our Vision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02346"/>
            <a:ext cx="5203794" cy="18203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316758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Challenge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801045"/>
            <a:ext cx="46733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Stockouts lose revenue; overstocking ties up capital. Retailers need real-time visibility and intelligent forecasting.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102346"/>
            <a:ext cx="5203794" cy="18203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48780" y="2316758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ForecastinQ Vision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48780" y="2801045"/>
            <a:ext cx="46733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data-driven commerce platform that transforms inventory from a cost center into a competitive advantage.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4111724"/>
            <a:ext cx="5203794" cy="1517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48780" y="4326136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Milestone-2 Focus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48780" y="4810423"/>
            <a:ext cx="46733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Building the core inventory operations engine with live database connectivity and intelligent filtering.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805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 &amp; Data Pipeline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857448"/>
            <a:ext cx="10868745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Full-Stack Architecture Overview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6437"/>
            <a:ext cx="10868745" cy="4974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22865" y="1865150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Layer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22865" y="2251178"/>
            <a:ext cx="2650038" cy="36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SQLite DB with live sync and secure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0578" y="3500093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 Layer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8521" y="3886122"/>
            <a:ext cx="2436325" cy="36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9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Node.js/Express REST API and business logic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22865" y="4344280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Frontend Layer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22865" y="4730308"/>
            <a:ext cx="2650038" cy="36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UI, responsive dashboard, real-time filtering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207026"/>
            <a:ext cx="1147833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Integration: Seamless data flow between all layers with proper error handling.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Milestone-2 Objectives &amp; Key Deliverables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28018"/>
            <a:ext cx="10868745" cy="8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Inventory Operations, Database Integration &amp; Catalog Architecture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4421"/>
            <a:ext cx="3522971" cy="2248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1958" y="2320627"/>
            <a:ext cx="202004" cy="252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8795" y="2867720"/>
            <a:ext cx="3148331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Transition from Static Layout to Active Database Connectivity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48795" y="3746698"/>
            <a:ext cx="31483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Move from hardcoded data to live SQLite synchronization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362" y="2194421"/>
            <a:ext cx="3522971" cy="22487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94845" y="2320627"/>
            <a:ext cx="202004" cy="252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21682" y="2867720"/>
            <a:ext cx="314833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Catalog Health &amp; Data Integrity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521682" y="3483670"/>
            <a:ext cx="31483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parameterized queries, secure SQL binding, and validation rules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7249" y="2194421"/>
            <a:ext cx="3522971" cy="22487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7732" y="2320627"/>
            <a:ext cx="202004" cy="252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194569" y="2867720"/>
            <a:ext cx="314833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Security Standards &amp; Best Practices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194569" y="3483670"/>
            <a:ext cx="31483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Defeat SQL injection, enforce input validation, and secure API endpoints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93134"/>
            <a:ext cx="5359365" cy="17227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40106" y="4719340"/>
            <a:ext cx="202004" cy="252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848795" y="5266432"/>
            <a:ext cx="498472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Modular Architecture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48795" y="5619353"/>
            <a:ext cx="498472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reusable components and clean separation of concerns for scalability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756" y="4593134"/>
            <a:ext cx="5359464" cy="17227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49486" y="4719340"/>
            <a:ext cx="202004" cy="252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358076" y="5266432"/>
            <a:ext cx="498482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Performance &amp; Optimization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6358076" y="5619353"/>
            <a:ext cx="498482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Ensure fast query execution, efficient pagination, and responsive UI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843" y="88503"/>
            <a:ext cx="4453818" cy="66808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1323"/>
            <a:ext cx="6296860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Executive Dashboard &amp; Live Inventory Valuation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61475" y="134917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Real-Time Inventory Overview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1755180"/>
            <a:ext cx="629686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executive dashboard provides an immediate, comprehensive snapshot of inventory health and financial performance, enabling proactive decision-making.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1475" y="2204442"/>
            <a:ext cx="6296860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₹96,73,400</a:t>
            </a:r>
            <a:endParaRPr lang="en-US" sz="3050" dirty="0"/>
          </a:p>
        </p:txBody>
      </p:sp>
      <p:sp>
        <p:nvSpPr>
          <p:cNvPr id="8" name="Text 5"/>
          <p:cNvSpPr/>
          <p:nvPr/>
        </p:nvSpPr>
        <p:spPr>
          <a:xfrm>
            <a:off x="661475" y="2708672"/>
            <a:ext cx="629686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Inventory Valuation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3099891"/>
            <a:ext cx="6296860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18</a:t>
            </a:r>
            <a:endParaRPr lang="en-US" sz="3050" dirty="0"/>
          </a:p>
        </p:txBody>
      </p:sp>
      <p:sp>
        <p:nvSpPr>
          <p:cNvPr id="10" name="Text 7"/>
          <p:cNvSpPr/>
          <p:nvPr/>
        </p:nvSpPr>
        <p:spPr>
          <a:xfrm>
            <a:off x="661475" y="3604121"/>
            <a:ext cx="629686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Products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1475" y="3995341"/>
            <a:ext cx="6296860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10</a:t>
            </a:r>
            <a:endParaRPr lang="en-US" sz="3050" dirty="0"/>
          </a:p>
        </p:txBody>
      </p:sp>
      <p:sp>
        <p:nvSpPr>
          <p:cNvPr id="12" name="Text 9"/>
          <p:cNvSpPr/>
          <p:nvPr/>
        </p:nvSpPr>
        <p:spPr>
          <a:xfrm>
            <a:off x="661475" y="4499570"/>
            <a:ext cx="629686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Active Brands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1475" y="4890790"/>
            <a:ext cx="6296860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3050" dirty="0"/>
          </a:p>
        </p:txBody>
      </p:sp>
      <p:sp>
        <p:nvSpPr>
          <p:cNvPr id="14" name="Text 11"/>
          <p:cNvSpPr/>
          <p:nvPr/>
        </p:nvSpPr>
        <p:spPr>
          <a:xfrm>
            <a:off x="661475" y="5395020"/>
            <a:ext cx="629686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Critical Alerts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475" y="5623818"/>
            <a:ext cx="629686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 stock items requiring immediate attention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1475" y="5860455"/>
            <a:ext cx="690644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  </a:t>
            </a:r>
            <a:r>
              <a:rPr lang="en-US" sz="9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Key Feature:</a:t>
            </a: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Brand quick filters for instant category navigation.    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1475" y="6097091"/>
            <a:ext cx="538248" cy="17948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373B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2315" y="6132513"/>
            <a:ext cx="1006152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APPAREL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258757" y="6097091"/>
            <a:ext cx="758806" cy="17948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373B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29597" y="6132513"/>
            <a:ext cx="1226710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ELECTRONICS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076596" y="6097091"/>
            <a:ext cx="760691" cy="17948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373B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47437" y="6132513"/>
            <a:ext cx="1228595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HOME GOODS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2896321" y="6097091"/>
            <a:ext cx="449450" cy="17948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373B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67162" y="6132513"/>
            <a:ext cx="917354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BOOKS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Product Catalog &amp; Intelligent Filtering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Smart Search &amp; Multi-Parameter Filtering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94098"/>
            <a:ext cx="4209151" cy="5225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427" y="1301254"/>
            <a:ext cx="39440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Multi-Parameter Filtering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9427" y="1496120"/>
            <a:ext cx="394404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Filter by Category + Brand simultaneously for precise product discovery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3911"/>
            <a:ext cx="4209151" cy="5225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9427" y="1871067"/>
            <a:ext cx="39440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Instant Text Search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19427" y="2065933"/>
            <a:ext cx="394404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search across product names, SKUs, and descriptions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33724"/>
            <a:ext cx="4209151" cy="5225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9427" y="2440880"/>
            <a:ext cx="39440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Live SQLite Sync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19427" y="2635746"/>
            <a:ext cx="394404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Database updates reflected instantly in the UI without page refresh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03538"/>
            <a:ext cx="4209151" cy="5225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9427" y="3010694"/>
            <a:ext cx="39440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User Experience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819427" y="3205559"/>
            <a:ext cx="394404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Clean, intuitive interface with visual feedback and filter state persistence</a:t>
            </a:r>
            <a:endParaRPr lang="en-US" sz="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54" y="1194098"/>
            <a:ext cx="6048521" cy="6048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55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 Engineering &amp; Security (Catalog Health)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08704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Secure SQL &amp; Parameterized Query Architecture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61475" y="172571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Vulnerable Pattern (SQL Injection Risk)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2076351"/>
            <a:ext cx="5257867" cy="1910358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35103" y="2221012"/>
            <a:ext cx="4910610" cy="1621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user_input = "'; DROP TABLE users; --";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query = "SELECT * FROM products WHERE name = '" + user_input + "'";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SQL becomes: SELECT * FROM products WHERE name = ''; DROP TABLE users; --'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can lead to data loss or unauthorized access.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8703" y="172571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Secure Pattern (Parameterized Query)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03" y="2076351"/>
            <a:ext cx="5257867" cy="1910358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52332" y="2221012"/>
            <a:ext cx="4910610" cy="1621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user_input = "Electronics"; // User input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query = "SELECT * FROM products WHERE name = ?";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db.run(query, [user_input], (err) =&gt;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user_input is treated as data, not executable code, preventing injection.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216896"/>
            <a:ext cx="5384169" cy="5349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4231" y="4235946"/>
            <a:ext cx="518236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Parameterized Query Security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4231" y="4528443"/>
            <a:ext cx="518236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</a:t>
            </a:r>
            <a:r>
              <a:rPr lang="en-US" sz="11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p.brand = ?</a:t>
            </a: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syntax to defeat SQL injection attacks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5952" y="4216896"/>
            <a:ext cx="5384268" cy="5349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47758" y="4235946"/>
            <a:ext cx="518246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47758" y="4528443"/>
            <a:ext cx="518246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Strict validation on all user inputs before database queries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935339"/>
            <a:ext cx="5384169" cy="5349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231" y="4954389"/>
            <a:ext cx="518236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Pagination Query Coexistence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4231" y="5246886"/>
            <a:ext cx="518236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Efficient pagination logic that works seamlessly with filtering and search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5952" y="4935339"/>
            <a:ext cx="5384268" cy="53498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7758" y="4954389"/>
            <a:ext cx="518246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47758" y="5246886"/>
            <a:ext cx="5182463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Prepared statements, input sanitization, and error handling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61475" y="5575895"/>
            <a:ext cx="10868745" cy="691455"/>
          </a:xfrm>
          <a:prstGeom prst="roundRect">
            <a:avLst>
              <a:gd name="adj" fmla="val 8790"/>
            </a:avLst>
          </a:prstGeom>
          <a:solidFill>
            <a:srgbClr val="E2E4E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32" y="5735836"/>
            <a:ext cx="180871" cy="1446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31661" y="5722739"/>
            <a:ext cx="1025390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Security is paramount:</a:t>
            </a: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Adopting parameterized queries and rigorous input validation safeguards our application against critical vulnerabilities like SQL injection, protecting both data integrity and user trust.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87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Smart Restocking &amp; Threshold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10470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Intelligent Inventory Management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5805"/>
            <a:ext cx="767835" cy="921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024" y="1829296"/>
            <a:ext cx="99761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Stock vs. Min Level Logic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54024" y="2144018"/>
            <a:ext cx="9976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alerts when inventory falls below minimum thresholds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97249"/>
            <a:ext cx="767835" cy="921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024" y="2750741"/>
            <a:ext cx="99761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Automated Reorder Quantity Recommendation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54024" y="3065463"/>
            <a:ext cx="9976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calculates optimal reorder quantities based on sales velocity and lead time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518694"/>
            <a:ext cx="767835" cy="921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024" y="3672185"/>
            <a:ext cx="99761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Brand Deep-Links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54024" y="3986907"/>
            <a:ext cx="9976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Quick navigation to all products from a specific brand for bulk operations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440138"/>
            <a:ext cx="767835" cy="92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024" y="4593630"/>
            <a:ext cx="99761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Threshold Configuration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54024" y="4908352"/>
            <a:ext cx="9976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Customizable min/max levels per product category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361583"/>
            <a:ext cx="767835" cy="9214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024" y="5515074"/>
            <a:ext cx="99761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Reorder Workflow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554024" y="5829796"/>
            <a:ext cx="9976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Streamlined process from alert to purchase order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Commerce &amp; Intelligence Architecture (Upcoming Modules)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Roadmap: Integrated Commerce Platform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platform is built on a modular architecture, with a robust core managing inventory and catalog data, around which future intelligent commerce modules will be integrated.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7505"/>
            <a:ext cx="9753356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6846987"/>
            <a:ext cx="5410759" cy="1023144"/>
          </a:xfrm>
          <a:prstGeom prst="roundRect">
            <a:avLst>
              <a:gd name="adj" fmla="val 388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628" y="6954143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(Completed)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628" y="7130058"/>
            <a:ext cx="51964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Inventory Management &amp; Catalog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119461" y="6846987"/>
            <a:ext cx="5410759" cy="1023144"/>
          </a:xfrm>
          <a:prstGeom prst="roundRect">
            <a:avLst>
              <a:gd name="adj" fmla="val 388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6615" y="6954143"/>
            <a:ext cx="51964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Upcoming Modules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6615" y="7130058"/>
            <a:ext cx="5196452" cy="63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Module – Track transactions, revenue, and sales trends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Directory – Manage customer profiles, purchase history, and preferences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Supplier Directory – Maintain supplier contacts, lead times, and pricing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Forecasting Engine – ML-powered demand forecasting and trend analysis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Reports &amp; Analytics – Comprehensive dashboards and business intelligence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46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Takeaways &amp; Next Steps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78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Milestone-2 Learnings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2092"/>
            <a:ext cx="520379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Full-stack development with React, Node.js, and SQLite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Security best practices: parameterized queries and input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Database design and optimization for real-time data synchronization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Building scalable, modular architecture for enterprise applications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9678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Milestone-3 Roadmap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452092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ML Forecasting Models – Implement machine learning for demand prediction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Predictive Analytics – Advanced trend analysis and anomaly detection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&amp; Customer Modules – Expand platform with transaction and customer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Optimization – Scale to handle larger datasets and concurrent users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34838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are committed to evolving ForecastinQ into a comprehensive, intelligent commerce platform, transforming inventory management into a strategic advantage for businesses.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869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Funnel Sans Bold</vt:lpstr>
      <vt:lpstr>Mona Sans SemiBold</vt:lpstr>
      <vt:lpstr>Arial</vt:lpstr>
      <vt:lpstr>Consolas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pavana teja</cp:lastModifiedBy>
  <cp:revision>2</cp:revision>
  <dcterms:created xsi:type="dcterms:W3CDTF">2026-09-15T13:35:39Z</dcterms:created>
  <dcterms:modified xsi:type="dcterms:W3CDTF">2026-09-15T15:19:24Z</dcterms:modified>
</cp:coreProperties>
</file>