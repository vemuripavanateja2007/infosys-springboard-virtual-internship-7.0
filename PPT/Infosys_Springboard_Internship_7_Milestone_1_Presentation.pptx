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76A7A-B5B6-4F40-A9B6-A9EBE9F39E40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408E9-F467-4928-97EB-BE206BE86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344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408E9-F467-4928-97EB-BE206BE86F0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003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109728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0" y="502920"/>
            <a:ext cx="3017520" cy="5760720"/>
          </a:xfrm>
          <a:prstGeom prst="roundRect">
            <a:avLst/>
          </a:prstGeom>
          <a:solidFill>
            <a:srgbClr val="193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35440" y="1051560"/>
            <a:ext cx="1828800" cy="4480560"/>
          </a:xfrm>
          <a:prstGeom prst="roundRect">
            <a:avLst/>
          </a:prstGeom>
          <a:solidFill>
            <a:srgbClr val="1E4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Aptos"/>
              </a:defRPr>
            </a:pPr>
            <a:r>
              <a:t>INFOSYS SPRINGBOARD VIRTUAL INTERNSHIP 7.0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7680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Milestone 1</a:t>
            </a:r>
            <a:br/>
            <a:r>
              <a:t>Project Setup, Database &amp;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Aptos"/>
              </a:defRPr>
            </a:pPr>
            <a:r>
              <a:t>ForecastinQ — a Flask-based foundation for the sales forecasting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4764712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476471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rPr dirty="0"/>
              <a:t>Vemuri</a:t>
            </a:r>
            <a:r>
              <a:rPr lang="en-US" dirty="0"/>
              <a:t> Venkata Satya Markandeya</a:t>
            </a:r>
            <a:r>
              <a:rPr dirty="0"/>
              <a:t> </a:t>
            </a:r>
            <a:r>
              <a:rPr dirty="0" err="1"/>
              <a:t>Pavanateja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31520" y="6080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Milestone 1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3657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64008" cy="141732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307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298448"/>
            <a:ext cx="2807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t>What is Milestone 1?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559052"/>
            <a:ext cx="280720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rPr dirty="0"/>
              <a:t>The first implementation stage of </a:t>
            </a:r>
            <a:r>
              <a:rPr dirty="0" err="1"/>
              <a:t>ForecastinQ</a:t>
            </a:r>
            <a:r>
              <a:rPr dirty="0"/>
              <a:t>, focused on creating a runnable Flask application with database support and secure user authentication.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1139165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143000"/>
            <a:ext cx="64008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307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766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298448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t>Core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1565541"/>
            <a:ext cx="253288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rPr dirty="0"/>
              <a:t>Establish a stable foundation so later milestones can add products, inventory, sales, forecasting, reports and other modules.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64008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1307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A5E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298448"/>
            <a:ext cx="2532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587074"/>
            <a:ext cx="253288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rPr dirty="0"/>
              <a:t>A clear application structure, persistent data layer and controlled access reduce complexity as the platform grows.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t>Milestone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429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t>• Application factory and configuration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t>• SQLite database layer and schema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t>• Register, login and logout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t>• Authenticated dashboard with KPI data</a:t>
            </a:r>
          </a:p>
          <a:p>
            <a:pPr>
              <a:spcAft>
                <a:spcPts val="1000"/>
              </a:spcAft>
              <a:defRPr sz="1550">
                <a:solidFill>
                  <a:srgbClr val="1E293B"/>
                </a:solidFill>
                <a:latin typeface="Aptos"/>
              </a:defRPr>
            </a:pPr>
            <a:r>
              <a:t>• Reusable templates, utilities and blueprints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71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646"/>
                </a:solidFill>
                <a:latin typeface="Aptos"/>
              </a:defRPr>
            </a:pPr>
            <a:r>
              <a:rPr dirty="0"/>
              <a:t>Foundation → Future modules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474720"/>
            <a:ext cx="21031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3657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63EB"/>
                </a:solidFill>
                <a:latin typeface="Aptos"/>
              </a:defRPr>
            </a:pPr>
            <a:r>
              <a:t>Milestone 1</a:t>
            </a:r>
            <a:br/>
            <a:r>
              <a:t>Foundation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3474720"/>
            <a:ext cx="21031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19" y="3657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766E"/>
                </a:solidFill>
                <a:latin typeface="Aptos"/>
              </a:defRPr>
            </a:pPr>
            <a:r>
              <a:t>Products &amp;</a:t>
            </a:r>
            <a:br/>
            <a:r>
              <a:t>Inventory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617720"/>
            <a:ext cx="21031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800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  <a:latin typeface="Aptos"/>
              </a:defRPr>
            </a:pPr>
            <a:r>
              <a:t>Sales &amp;</a:t>
            </a:r>
            <a:br/>
            <a:r>
              <a:t>Customers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4617720"/>
            <a:ext cx="21031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19" y="4800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Aptos"/>
              </a:defRPr>
            </a:pPr>
            <a:r>
              <a:t>Forecasting &amp;</a:t>
            </a:r>
            <a:br/>
            <a:r>
              <a:t>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  <a:latin typeface="Aptos Display"/>
              </a:defRPr>
            </a:pPr>
            <a:r>
              <a:t>2. Key Concepts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64008" cy="150876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3533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63EB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44168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t>Flask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719072"/>
            <a:ext cx="257860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Web framework used to build the application and route requests.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18872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188720"/>
            <a:ext cx="64008" cy="1508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13533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766E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344168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t>Application Factory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719072"/>
            <a:ext cx="257860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create_app() builds and configures the Flask application.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18872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188720"/>
            <a:ext cx="64008" cy="1508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8" y="13533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A5E9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344168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1719072"/>
            <a:ext cx="257860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Lightweight relational database used for local persistence.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063239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063239"/>
            <a:ext cx="64008" cy="1508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32278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7706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218687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t>Blueprints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593591"/>
            <a:ext cx="257860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Separate auth and dashboard functionality into modular components.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063239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34840" y="3063239"/>
            <a:ext cx="64008" cy="1508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36008" y="32278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218687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t>Sessions + CSRF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593591"/>
            <a:ext cx="257860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Session state supports login; CSRF validation protects POST requests.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063239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0" y="3063239"/>
            <a:ext cx="64008" cy="150876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30768" y="32278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63EB"/>
                </a:solidFill>
                <a:latin typeface="Aptos"/>
              </a:defRPr>
            </a:pPr>
            <a:r>
              <a:t>J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218687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t>Jinja Templates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3593591"/>
            <a:ext cx="2578608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Reusable HTML structure for authentication and dashboard pages.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166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2646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650992"/>
            <a:ext cx="1508760" cy="347472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5669279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68880" y="5650992"/>
            <a:ext cx="150876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68880" y="5669279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Flask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51960" y="5650992"/>
            <a:ext cx="1508760" cy="34747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51960" y="5669279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5650992"/>
            <a:ext cx="1508760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35040" y="5669279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Werkzeug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18120" y="5650992"/>
            <a:ext cx="1508760" cy="347472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18120" y="5669279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Jinja2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0" y="5650992"/>
            <a:ext cx="150876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01200" y="5669279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HTML/CSS/JS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  <a:latin typeface="Aptos Display"/>
              </a:defRPr>
            </a:pPr>
            <a:r>
              <a:t>3. Working /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8288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9933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63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4688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2646"/>
                </a:solidFill>
                <a:latin typeface="Aptos"/>
              </a:defRPr>
            </a:pPr>
            <a:r>
              <a:t>Start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92608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4748B"/>
                </a:solidFill>
                <a:latin typeface="Aptos"/>
              </a:defRPr>
            </a:pPr>
            <a:r>
              <a:t>app.py calls create_app() and loads configuration.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50591" y="2788920"/>
            <a:ext cx="356617" cy="0"/>
          </a:xfrm>
          <a:prstGeom prst="line">
            <a:avLst/>
          </a:prstGeom>
          <a:ln w="25400">
            <a:solidFill>
              <a:srgbClr val="26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1828800"/>
            <a:ext cx="18288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0088" y="19933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4688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2646"/>
                </a:solidFill>
                <a:latin typeface="Aptos"/>
              </a:defRPr>
            </a:pPr>
            <a:r>
              <a:t>Connect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292608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4748B"/>
                </a:solidFill>
                <a:latin typeface="Aptos"/>
              </a:defRPr>
            </a:pPr>
            <a:r>
              <a:t>db.py initializes SQLite access for requests.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36592" y="2788920"/>
            <a:ext cx="356616" cy="0"/>
          </a:xfrm>
          <a:prstGeom prst="line">
            <a:avLst/>
          </a:prstGeom>
          <a:ln w="25400">
            <a:solidFill>
              <a:srgbClr val="26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60" y="1828800"/>
            <a:ext cx="18288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76088" y="19933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EA5E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24688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2646"/>
                </a:solidFill>
                <a:latin typeface="Aptos"/>
              </a:defRPr>
            </a:pPr>
            <a:r>
              <a:t>Authenticate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292608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4748B"/>
                </a:solidFill>
                <a:latin typeface="Aptos"/>
              </a:defRPr>
            </a:pPr>
            <a:r>
              <a:t>User registers or logs in; password hash is checked.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22592" y="2788920"/>
            <a:ext cx="356616" cy="0"/>
          </a:xfrm>
          <a:prstGeom prst="line">
            <a:avLst/>
          </a:prstGeom>
          <a:ln w="25400">
            <a:solidFill>
              <a:srgbClr val="26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52360" y="1828800"/>
            <a:ext cx="18288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62088" y="19933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24688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2646"/>
                </a:solidFill>
                <a:latin typeface="Aptos"/>
              </a:defRPr>
            </a:pPr>
            <a:r>
              <a:t>Create 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292608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4748B"/>
                </a:solidFill>
                <a:latin typeface="Aptos"/>
              </a:defRPr>
            </a:pPr>
            <a:r>
              <a:t>User identity and role are stored in the session.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08592" y="2788920"/>
            <a:ext cx="356616" cy="0"/>
          </a:xfrm>
          <a:prstGeom prst="line">
            <a:avLst/>
          </a:prstGeom>
          <a:ln w="25400">
            <a:solidFill>
              <a:srgbClr val="26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38360" y="1828800"/>
            <a:ext cx="18288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48088" y="199339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63E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8088" y="24688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2646"/>
                </a:solidFill>
                <a:latin typeface="Aptos"/>
              </a:defRPr>
            </a:pPr>
            <a:r>
              <a:t>Open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84664" y="292608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4748B"/>
                </a:solidFill>
                <a:latin typeface="Aptos"/>
              </a:defRPr>
            </a:pPr>
            <a:r>
              <a:t>login_required allows authenticated access to KPIs.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389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2646"/>
                </a:solidFill>
                <a:latin typeface="Aptos"/>
              </a:defRPr>
            </a:pPr>
            <a:r>
              <a:t>Authentication 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983480"/>
            <a:ext cx="1600200" cy="594360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514807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Credentials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350008" y="5285232"/>
            <a:ext cx="210312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606039" y="4983480"/>
            <a:ext cx="1600200" cy="5943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51759" y="514807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CSRF check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224527" y="5285232"/>
            <a:ext cx="210313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480559" y="4983480"/>
            <a:ext cx="1600200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26279" y="514807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User lookup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99048" y="5285232"/>
            <a:ext cx="210311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355079" y="4983480"/>
            <a:ext cx="1600200" cy="5943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799" y="514807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Password hash check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973567" y="5285232"/>
            <a:ext cx="210312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229600" y="4983480"/>
            <a:ext cx="1600200" cy="594360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75320" y="514807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Session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848088" y="5285232"/>
            <a:ext cx="210312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0104120" y="4983480"/>
            <a:ext cx="1600200" cy="5943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49840" y="514807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  <a:latin typeface="Aptos Display"/>
              </a:defRPr>
            </a:pPr>
            <a:r>
              <a:t>4. Architecture /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14600"/>
            <a:ext cx="201168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1" y="2697480"/>
            <a:ext cx="1865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63EB"/>
                </a:solidFill>
                <a:latin typeface="Aptos"/>
              </a:defRPr>
            </a:pPr>
            <a:r>
              <a:t>Browser / 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2331720"/>
            <a:ext cx="1920240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19272" y="2514600"/>
            <a:ext cx="17739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766E"/>
                </a:solidFill>
                <a:latin typeface="Aptos"/>
              </a:defRPr>
            </a:pPr>
            <a:r>
              <a:t>Flask App</a:t>
            </a:r>
            <a:br/>
            <a:r>
              <a:t>app.py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600200"/>
            <a:ext cx="228600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42432" y="1783080"/>
            <a:ext cx="213969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  <a:latin typeface="Aptos"/>
              </a:defRPr>
            </a:pPr>
            <a:r>
              <a:t>Blueprints</a:t>
            </a:r>
            <a:br/>
            <a:r>
              <a:t>auth.py • dashboard.py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3246120"/>
            <a:ext cx="228600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42432" y="3429000"/>
            <a:ext cx="21396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Aptos"/>
              </a:defRPr>
            </a:pPr>
            <a:r>
              <a:t>Utilities</a:t>
            </a:r>
            <a:br/>
            <a:r>
              <a:t>utils.py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2331720"/>
            <a:ext cx="1737360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31352" y="2514600"/>
            <a:ext cx="15910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63EB"/>
                </a:solidFill>
                <a:latin typeface="Aptos"/>
              </a:defRPr>
            </a:pPr>
            <a:r>
              <a:t>DB Layer</a:t>
            </a:r>
            <a:br/>
            <a:r>
              <a:t>db.py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61320" y="2331720"/>
            <a:ext cx="1143000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34472" y="2514600"/>
            <a:ext cx="9966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766E"/>
                </a:solidFill>
                <a:latin typeface="Aptos"/>
              </a:defRPr>
            </a:pPr>
            <a:r>
              <a:t>SQLite</a:t>
            </a:r>
            <a:br/>
            <a:r>
              <a:t>forecastinq.db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0" y="2971800"/>
            <a:ext cx="548640" cy="0"/>
          </a:xfrm>
          <a:prstGeom prst="line">
            <a:avLst/>
          </a:prstGeom>
          <a:ln w="25400">
            <a:solidFill>
              <a:srgbClr val="26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212080" y="2240280"/>
            <a:ext cx="411480" cy="502920"/>
          </a:xfrm>
          <a:prstGeom prst="line">
            <a:avLst/>
          </a:prstGeom>
          <a:ln w="25400">
            <a:solidFill>
              <a:srgbClr val="26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212080" y="3200400"/>
            <a:ext cx="411480" cy="457200"/>
          </a:xfrm>
          <a:prstGeom prst="line">
            <a:avLst/>
          </a:prstGeom>
          <a:ln w="25400">
            <a:solidFill>
              <a:srgbClr val="26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01000" y="2240280"/>
            <a:ext cx="411480" cy="502920"/>
          </a:xfrm>
          <a:prstGeom prst="line">
            <a:avLst/>
          </a:prstGeom>
          <a:ln w="25400">
            <a:solidFill>
              <a:srgbClr val="26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001000" y="3200400"/>
            <a:ext cx="411480" cy="502920"/>
          </a:xfrm>
          <a:prstGeom prst="line">
            <a:avLst/>
          </a:prstGeom>
          <a:ln w="25400">
            <a:solidFill>
              <a:srgbClr val="26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241280" y="2971800"/>
            <a:ext cx="274320" cy="0"/>
          </a:xfrm>
          <a:prstGeom prst="line">
            <a:avLst/>
          </a:prstGeom>
          <a:ln w="25400">
            <a:solidFill>
              <a:srgbClr val="26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4892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2646"/>
                </a:solidFill>
                <a:latin typeface="Aptos"/>
              </a:defRPr>
            </a:pPr>
            <a:r>
              <a:t>Component roles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03520"/>
            <a:ext cx="5212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5303520"/>
            <a:ext cx="64008" cy="658368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6592" y="52806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rPr dirty="0"/>
              <a:t>app.py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592" y="5600700"/>
            <a:ext cx="48463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rPr dirty="0"/>
              <a:t>Creates the Flask app, loads config and registers blueprints.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303520"/>
            <a:ext cx="5212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5303520"/>
            <a:ext cx="64008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535976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rPr dirty="0"/>
              <a:t>db.py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5679801"/>
            <a:ext cx="48463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rPr dirty="0"/>
              <a:t>Provides SQLite connection and query helpers.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6080759"/>
            <a:ext cx="5212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6080759"/>
            <a:ext cx="64008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6592" y="610229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rPr dirty="0"/>
              <a:t>auth.py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592" y="6400062"/>
            <a:ext cx="48463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rPr dirty="0"/>
              <a:t>Handles registration, login, password verification and logout.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6080759"/>
            <a:ext cx="5212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6080759"/>
            <a:ext cx="64008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60389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rPr dirty="0"/>
              <a:t>dashboard.py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6359012"/>
            <a:ext cx="48463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rPr dirty="0"/>
              <a:t>Builds KPI queries and serves the authenticated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  <a:latin typeface="Aptos Display"/>
              </a:defRPr>
            </a:pPr>
            <a:r>
              <a:t>5. Applications in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64008" cy="178308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399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89888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t>User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764792"/>
            <a:ext cx="257860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Secure entry point for authorized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234440"/>
            <a:ext cx="64008" cy="1783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1399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766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389888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t>Dashboard KPIs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764792"/>
            <a:ext cx="257860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Summarizes sales, revenue and inventory indicators.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23444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234440"/>
            <a:ext cx="64008" cy="1783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8" y="13990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A5E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389888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t>Database foundation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1764792"/>
            <a:ext cx="257860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Stores structured business data for later modules.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8328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383280"/>
            <a:ext cx="64008" cy="1783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770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538728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t>Role-aware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13632"/>
            <a:ext cx="257860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User role is retained in the session for controlled features.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38328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34840" y="3383280"/>
            <a:ext cx="64008" cy="178308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36008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63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538728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t>Modular expansion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913632"/>
            <a:ext cx="257860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Blueprints and shared templates support future modules.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38328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0" y="3383280"/>
            <a:ext cx="64008" cy="1783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30768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766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538728"/>
            <a:ext cx="2578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t>Local development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3913632"/>
            <a:ext cx="257860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Runs as a lightweight Flask + SQLite application on localhost.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715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ptos"/>
              </a:defRPr>
            </a:pPr>
            <a:r>
              <a:t>Practical value: a small but complete slice of the larger sales forecasting platform.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  <a:latin typeface="Aptos Display"/>
              </a:defRPr>
            </a:pPr>
            <a:r>
              <a:t>6. Advantages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5349240" cy="56692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51663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188720"/>
            <a:ext cx="5349240" cy="56692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353312"/>
            <a:ext cx="51663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Limitations /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983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• Clear modular structure using Flask blueprints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• SQLite keeps setup simple for development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• Password hashes are stored instead of plain passwords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• CSRF checks are applied to POST authentication actions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• Dashboard access is protected with login_required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57400"/>
            <a:ext cx="4983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• SQLite is intended as a lightweight local database; scaling needs further design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• Milestone 1 covers only authentication and dashboard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• Demo configuration contains a development secret key</a:t>
            </a:r>
          </a:p>
          <a:p>
            <a:pPr>
              <a:spcAft>
                <a:spcPts val="10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• Security and deployment hardening are still needed for production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5715000"/>
            <a:ext cx="81381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48840" y="5843016"/>
            <a:ext cx="7863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42646"/>
                </a:solidFill>
                <a:latin typeface="Aptos"/>
              </a:defRPr>
            </a:pPr>
            <a:r>
              <a:t>Key point: Milestone 1 is a foundation, not the complete forecasting product.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  <a:latin typeface="Aptos Display"/>
              </a:defRPr>
            </a:pPr>
            <a:r>
              <a:t>7. 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264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Milestone 1 establishes the ForecastinQ application foundation.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Flask provides the application structure; SQLite provides persistence.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Authentication, sessions and CSRF validation create a basic secure access layer.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The dashboard demonstrates how stored data can be turned into business KPIs.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The architecture is ready for incremental development in later milestones.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34440"/>
            <a:ext cx="49377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0" y="1234440"/>
            <a:ext cx="64008" cy="2651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39128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766E"/>
                </a:solidFill>
                <a:latin typeface="Aptos"/>
              </a:defRPr>
            </a:pPr>
            <a:r>
              <a:rPr dirty="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389888"/>
            <a:ext cx="4087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646"/>
                </a:solidFill>
                <a:latin typeface="Aptos"/>
              </a:defRPr>
            </a:pPr>
            <a:r>
              <a:t>Milestone 1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764792"/>
            <a:ext cx="40873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rPr sz="1400" dirty="0"/>
              <a:t>Runnable local application</a:t>
            </a:r>
            <a:br>
              <a:rPr sz="1400" dirty="0"/>
            </a:br>
            <a:r>
              <a:rPr sz="1400" dirty="0"/>
              <a:t>✓ Register / Login / Logout</a:t>
            </a:r>
            <a:br>
              <a:rPr sz="1400" dirty="0"/>
            </a:br>
            <a:r>
              <a:rPr sz="1400" dirty="0"/>
              <a:t>✓ Authenticated dashboard</a:t>
            </a:r>
            <a:br>
              <a:rPr sz="1400" dirty="0"/>
            </a:br>
            <a:r>
              <a:rPr sz="1400" dirty="0"/>
              <a:t>✓ SQLite database initialization</a:t>
            </a:r>
            <a:br>
              <a:rPr sz="1400" dirty="0"/>
            </a:br>
            <a:r>
              <a:rPr sz="1400" dirty="0"/>
              <a:t>✓ Modular Flask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54880"/>
            <a:ext cx="10424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63EB"/>
                </a:solidFill>
                <a:latin typeface="Aptos"/>
              </a:defRPr>
            </a:pPr>
            <a:r>
              <a:rPr sz="40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728</Words>
  <Application>Microsoft Office PowerPoint</Application>
  <PresentationFormat>Widescreen</PresentationFormat>
  <Paragraphs>143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pavana teja</cp:lastModifiedBy>
  <cp:revision>2</cp:revision>
  <dcterms:created xsi:type="dcterms:W3CDTF">2013-01-27T09:14:16Z</dcterms:created>
  <dcterms:modified xsi:type="dcterms:W3CDTF">2026-09-04T14:18:01Z</dcterms:modified>
  <cp:category/>
</cp:coreProperties>
</file>